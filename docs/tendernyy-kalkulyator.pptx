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поставлена 17 августа. Это предложение по её реализации.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взяты из реальной заявки от 04.08.2026 и таргетов от 10.08.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Ещё два трейдера, ETK и VVP, есть в файле сравнения, но отсутствуют в своде условий. Списки не согласованы между собой.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на макете посчитаны настоящими формулами на курсах из файла 25.06. Целевая РРЦ и артикул условные.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этап можно начинать сразу: сверка расчёта делается на тех ставках, которые фактически применялись в прошлых тендерах.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173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ЗАО ПАТИО   ·   УПРАВЛЕНИЕ E-COMMERCE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288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Тендерный калькулятор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78892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 по автоматизации закупки Apple у трейдеров: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болит, что предлагаю сделать, сколько это займёт и кто это делает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80644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Артём Боровский, начальник управления e-commerce   ·   7 сентября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ОСНОВАНИЕ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чего я начал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00200"/>
            <a:ext cx="4663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Задачу поставили 17 августа: собрать в одном месте условия работы с трейдерами и сделать тендерный калькулятор.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 разобрал пять рабочих файлов и восстановил по ним, как процесс устроен на самом деле. Всё, что дальше в презентации, посчитано на этих данных, а не на предположениях.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0" y="1600200"/>
            <a:ext cx="5943600" cy="658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6733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задание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938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автоматизации, 6 страниц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2368296"/>
            <a:ext cx="5943600" cy="658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97880" y="24414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 условий по трейдерам, 18.08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27066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базис, оплата, курсы, сроки, инспекция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0" y="3136392"/>
            <a:ext cx="5943600" cy="658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897880" y="3209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заявки, 04.08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3474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заполнена трейдером Inonics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0" y="3904488"/>
            <a:ext cx="5943600" cy="658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97880" y="3977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заявки, оптимизированная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42428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заполнена трейдером Noviva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0" y="4672584"/>
            <a:ext cx="5943600" cy="658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97880" y="474573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Сводная сравнения, 25.06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расчёт по девяти трейдерам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0" y="5440680"/>
            <a:ext cx="5943600" cy="658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97880" y="55138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Прототип калькулятора, 20.08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57790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листов, коллегам не подошёл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СЕЙЧАС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ручных этапа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2670048" cy="320040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74520"/>
            <a:ext cx="457200" cy="457200"/>
          </a:xfrm>
          <a:prstGeom prst="ellipse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476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8716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Рассылка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Менеджер заполняет Excel и вручную отправляет его в девять отдельных чатов в Telegram. Общая таблица запрещена: трейдеры не видят друг друга.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1645920"/>
            <a:ext cx="2670048" cy="320040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9312" y="1874520"/>
            <a:ext cx="457200" cy="457200"/>
          </a:xfrm>
          <a:prstGeom prst="ellipse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39312" y="19476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48716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639312" y="288036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Девять файлов приходят в девять чатов. Менеджер открывает каждый и переносит данные в общую сводную вручную.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99632" y="1645920"/>
            <a:ext cx="2670048" cy="320040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5664" y="1874520"/>
            <a:ext cx="457200" cy="457200"/>
          </a:xfrm>
          <a:prstGeom prst="ellipse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55664" y="19476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55664" y="248716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Нотификация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288036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каждой модели менеджер вручную ищет запись в реестре ЕАЭС, пробуя латинскую и кириллическую «А». Без нотификации товар нельзя продавать в РБ.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15984" y="1645920"/>
            <a:ext cx="2670048" cy="320040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2016" y="1874520"/>
            <a:ext cx="457200" cy="457200"/>
          </a:xfrm>
          <a:prstGeom prst="ellipse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72016" y="19476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72016" y="2487168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272016" y="288036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считается девятью разными формулами. У каждого трейдера свой источник курса, своя надбавка и своя логистика.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0749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всё это уходит рабочий день менеджера, и каждый шаг можно сделать неправильно.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 каких деньгах идёт речь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670048" cy="21488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74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74320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позиций в одном тендере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24612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от 04.08.2026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70048" cy="21488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874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1 730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74320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штук техники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4612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суммарная потребность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1691640"/>
            <a:ext cx="2670048" cy="21488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73952" y="1874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1,35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274320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долларов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73952" y="324612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по таргетам закупки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15984" y="1691640"/>
            <a:ext cx="2670048" cy="21488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74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743200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трейдеров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90304" y="324612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у каждого своя формула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1148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один тендер. Они идут регулярно, и по каждому решение принимается вручную.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3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я считаю это риском, а не неудобством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8308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5FBD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0,07 %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7889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 между первым и вторым предложением в реальном расчёте по позиции iPhone 17 256GB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394960" y="1737360"/>
            <a:ext cx="6217920" cy="320040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1500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я нашёл в файле от 25.06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715000" y="2423160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Надбавка 0,5 % по одному из трейдеров учтена дважды: и в курсе, и коэффициентом к цене.</a:t>
            </a:r>
            <a:endParaRPr lang="en-US" sz="14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переписке 19 августа трейдер прямо ответил, что надбавка одна.</a:t>
            </a:r>
            <a:endParaRPr lang="en-US" sz="14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15 рублей на единице товара при разрыве между первым и вторым местом в 2 рубля. На позиции в 320 штук — 4 800 рублей и другой победитель тендера.</a:t>
            </a:r>
            <a:endParaRPr lang="en-US" sz="1400" dirty="0"/>
          </a:p>
          <a:p>
            <a:pPr indent="0" marL="0">
              <a:lnSpc>
                <a:spcPts val="21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 делали грамотные люди. Ошибка прожила в нём несколько месяцев, потому что в таблице её не видно.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25780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 закупке на 1,35 млн долларов принимается по цифре, которую никто не может проверить.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СЛОЖНО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Девять трейдеров, девять разных формул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1188720"/>
                <a:gridCol w="3657600"/>
                <a:gridCol w="13990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Трейдер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Валюта и источник курса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Надбавка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Природа надбавки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Логистика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Inonics trading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RUB, НБ РБ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добавляют наши финансы при оплате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цене, CIP Минск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 Planet FZCO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RUB, инвестинг + 10 коп.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комиссия платёжного агента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7 $ за единицу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Shiva General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RUB, инвестинг + 10 коп.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комиссия платёжного агента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7 $ за единицу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Noviva DWC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RUB, ЦБ РФ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конвертация рублей в дирхамы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7 $ за единицу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KVN Group, Бигап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RUB, ЦБ РФ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добавляют наши финансы при оплате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7 $ за единицу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Angel Trade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CNY, инвестинг + 0,5 %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банка трейдера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цене, DAP Минск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HuaXun Group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в формуле вписан числом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цене, CIP Минск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2578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Формулы живут в ячейках Excel и меняются вручную. Проверить их может только тот, кто их писал.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ЕЩЁ МЕШАЕТ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проблемы, которые я вижу в данных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532120" cy="16916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74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Нотификации никто не заполняет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6771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в одном полученном файле колонки «Нотификация» и «Модель» не заполнены. Проверять по факту нечего, а без нотификации партию нельзя продавать в РБ.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0216" y="1691640"/>
            <a:ext cx="5532120" cy="16916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74536" y="18745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Файлы приходят грязными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74536" y="226771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приходит текстом: «$825». В поле итоговой цены встречается «$1425 orange, $1450 silver». Числами это не посчитать.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611880"/>
            <a:ext cx="5532120" cy="16916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7947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шаблоне остались старые формулы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8795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новой форме колонка названа «Статус позиции», а внутри осталась формула сложения от прежней версии. Трейдер видит в ней мусор.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0216" y="3611880"/>
            <a:ext cx="5532120" cy="169164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74536" y="379476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Тендер идёт в несколько раундов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74536" y="4187952"/>
            <a:ext cx="4983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форме от 04.08 два столбца таргета, с разными датами. Торг многораундовый, а в техническом задании описан как разовый сбор предложений.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5778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одна из этих проблем не решается аккуратностью. Их решает система, которая не принимает неправильные данные.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3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Сервис вместо таблицы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00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Трейдер остаётся в своём чате в Telegram и ничего нового не осваивает. Менеджер работает в кабинете и получает готовую сводную.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606040"/>
            <a:ext cx="2670048" cy="237744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1635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Рассылка и сбор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сам отправляет запрос каждому трейдеру и сам забирает ответ. Данные других участников недоступны никому из них.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83280" y="2606040"/>
            <a:ext cx="2670048" cy="237744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281635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Расчёт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324612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в рублях по единой методике, с разложением по шагам. Маржа считается к целевой РРЦ.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2606040"/>
            <a:ext cx="2670048" cy="237744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55664" y="281635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Нотификации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455664" y="324612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Проверяются автоматически в реестре ЕАЭС, в двух раскладках. Позиция без нотификации блокируется к выбору.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15984" y="2606040"/>
            <a:ext cx="2670048" cy="237744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72016" y="2816352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История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3246120"/>
            <a:ext cx="21579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расчёт сохраняется вместе с курсами на дату и воспроизводится задним числом.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3492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остаётся запасным каналом. Кто не хочет форму, отправляет файл в чат как раньше.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реализации</a:t>
            </a:r>
            <a:endParaRPr lang="en-US" sz="3200" dirty="0"/>
          </a:p>
        </p:txBody>
      </p:sp>
      <p:pic>
        <p:nvPicPr>
          <p:cNvPr id="5" name="Image 0" descr="/home/user/tender_calculator/docs/img/05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63040"/>
            <a:ext cx="9326880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89320"/>
            <a:ext cx="11055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Пунктиром показана вторая очередь. До неё потребность и целевая РРЦ вводятся вручную.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ИНТЕРФЕЙС, МАКЕТ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видит менеджер</a:t>
            </a:r>
            <a:endParaRPr lang="en-US" sz="3200" dirty="0"/>
          </a:p>
        </p:txBody>
      </p:sp>
      <p:pic>
        <p:nvPicPr>
          <p:cNvPr id="5" name="Image 0" descr="/home/user/tender_calculator/docs/img/06-kabinet-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7680960" cy="4828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778240" y="1600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позиция, все предложения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778240" y="20116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Себестоимость сразу в рублях, маржа к целевой РРЦ, покрытие потребности и срок прихода на ЦС.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778240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Разложение цифры по шагам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35661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цепочка, которую менеджер сегодня считает вручную. Поэтому ей можно верить.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Блокировки видны сразу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51206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Позиция без нотификации подсвечена и к выбору недоступна.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считается себестоимость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11055096" cy="56692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76479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17556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предложения трейдера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596128" y="1773936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валюте оффера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231136"/>
            <a:ext cx="1105509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" y="23682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235915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Надбавка трейдера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96128" y="2377440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и его природа берутся из справочника, а не из формулы в ячейке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2834640"/>
            <a:ext cx="11055096" cy="56692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" y="2971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25296" y="296265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Логистика до склада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596128" y="2980944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если базис поставки этого требует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38144"/>
            <a:ext cx="1105509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" y="357530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25296" y="356616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Конвертация по траншам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596128" y="3584448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платёж по курсу своей даты и своего источника: НБ РБ, ЦБ РФ или инвестинг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041648"/>
            <a:ext cx="11055096" cy="56692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" y="417880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25296" y="416966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Пошлина, НДС, утильсбор, гарантийный сбор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4187952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ставки задаются финансовой службой и хранятся с датой действия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645152"/>
            <a:ext cx="11055096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8096" y="478231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25296" y="477316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денег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596128" y="4791456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предоплата стоит денег, отсрочка их экономит. Считается по обеим сторонам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248656"/>
            <a:ext cx="11055096" cy="56692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8096" y="53858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225296" y="537667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Маржа к целевой РРЦ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596128" y="5394960"/>
            <a:ext cx="5843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то, в чём менеджер реально принимает решение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E5C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одного числа в коде. Курсы, ставки и надбавки лежат в справочниках, каждый расчёт сохраняется целиком.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ИНТЕРФЕЙС, МАКЕТ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видит трейдер</a:t>
            </a:r>
            <a:endParaRPr lang="en-US" sz="3200" dirty="0"/>
          </a:p>
        </p:txBody>
      </p:sp>
      <p:pic>
        <p:nvPicPr>
          <p:cNvPr id="5" name="Image 0" descr="/home/user/tender_calculator/docs/img/04-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234440"/>
            <a:ext cx="2011680" cy="4818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157276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Открывается прямо в Telegram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86537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кнопке из чата. Логина и пароля нет, трейдер опознан своим аккаунтом.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46888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 с типами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614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принимает только число. Запись «1425 orange» отклоняется в момент ввода, а не при разборе файла у нас.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36499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Обязательные поля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6576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и номер нотификации пропустить нельзя. Сегодня их не заполняет ни один трейдер.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261104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Изоляция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5537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Трейдер видит только свои строки. Ни цен, ни имён других участников в интерфейсе нет.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15721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остаётся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44982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не хочет форму, отправляет файл в чат как раньше. Бот его примет и разберёт.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ЧАСТЬ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собирается сервис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011680"/>
                <a:gridCol w="29260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делается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так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Расчёт и домен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Python, FastAPI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лучший инструментарий для разбора Excel и расчётов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Бот в Telegram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aiogram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рассылка, приём файлов, статусы, напоминания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 трейдера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Telegram Mini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открывается в чате, без логинов и паролей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Кабинет менеджера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 же технология, что на сайте компании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S3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история тендеров, курсы на дату, оригиналы файлов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Развёртывание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переносится в контур IT без переписывания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863840" y="1645920"/>
            <a:ext cx="3749040" cy="2944368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3816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берём снаружи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19456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НБ РБ и ЦБ РФ отдают курсы машине, забираем автоматически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инвестинга вводит менеджер один раз в день, публичного источника нет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Реестр ЕАЭС проверяем по каждой модели, ответ сохраняем как подтверждение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9834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Вторая очередь: подтягивать потребность и остатки из 1С:УТ, а целевую РРЦ и продажи из Qlik. Без них сервис работает, эти данные вводятся вручную.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3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РАБОТЫ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делает и кто поддерживает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621024" cy="3566160"/>
          </a:xfrm>
          <a:prstGeom prst="rect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019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1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1284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у нас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97480"/>
            <a:ext cx="30723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e-commerce делает сервис целиком: справочники, расчёт, бот, форму трейдера, кабинет и проверку нотификаций. Обкатываем на живых тендерах.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466344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25–35 чел-дней, 6–8 недель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61688" y="1691640"/>
            <a:ext cx="3621024" cy="356616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36008" y="19019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636008" y="221284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Передача в IT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2697480"/>
            <a:ext cx="30723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Отдаём исходный код, схему данных, автотесты расчёта на исторических тендерах, инструкцию по развёртыванию и описание методики.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36008" y="466344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чел-дней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56448" y="1691640"/>
            <a:ext cx="3621024" cy="356616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30768" y="19019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3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221284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Эксплуатация в IT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2697480"/>
            <a:ext cx="30723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переносит сервис в управляемую среду, отвечает за доступность, резервные копии и доступы, заводит на help desk.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466344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постоянно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48640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отвечаем за то, что сервис правильно считает и закрывает потребность бизнеса. IT отвечает за то, что он работает и поддерживается. Инфраструктуры и дежурства в управлении e-commerce нет, и держать их у себя я не предлагаю.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ПЕРЕДАЧА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именно получает 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45920"/>
            <a:ext cx="6583680" cy="713232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4650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29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репозиторий IT, без внешних зависимостей за пределами согласованного стека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468880"/>
            <a:ext cx="6583680" cy="713232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6946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данных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529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базы и миграции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291840"/>
            <a:ext cx="6583680" cy="713232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39242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 расчёта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675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прогон на прошлых тендерах: если формула поедет, тест это покажет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114800"/>
            <a:ext cx="6583680" cy="713232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2153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Инструкция по развёртыванию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9884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поднять сервис с нуля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937760"/>
            <a:ext cx="6583680" cy="713232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03834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методики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218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берётся каждая цифра в себестоимости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0" y="1645920"/>
            <a:ext cx="4023360" cy="3108960"/>
          </a:xfrm>
          <a:prstGeom prst="rect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Условие, без которого схема не работает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6060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9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Технологический стек согласуем с IT до начала разработки.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9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Тогда на приёмке обсуждается качество кода, а не выбор языка и базы. Если IT предложит свой стек, мы его примем.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80644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21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 функциональности остаётся за управлением e-commerce: новый трейдер, изменение методики, новые справочники. Поддержка в IT — это доступность и инциденты.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Сроки по этапам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035040"/>
                <a:gridCol w="18196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 работ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входит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Чел-дни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Справочники и расчётное ядро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условия девяти трейдеров, схемы оплаты, ставки сборов, курсы, сверка на прошлых тендерах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Приём и разбор ответов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разбор файлов, нормализация значений, отчёт об ошибках трейдеру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Telegram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бот и форма трейдера с проверкой полей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Кабинет менеджера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потребность, мониторинг ответов, сводная, распределение объёма, архив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нотификаций ЕАЭС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разведка реестра, запрос в двух раскладках, блокировка позиции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Развёртывание и обкатка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запуск, два живых тендера, доработки, инструкции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Разработка у нас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итого по этапам выше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22–33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Передача и приёмка в 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перенос в контур, документация, help desk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40680"/>
            <a:ext cx="5394960" cy="868680"/>
          </a:xfrm>
          <a:prstGeom prst="rect">
            <a:avLst/>
          </a:prstGeom>
          <a:solidFill>
            <a:srgbClr val="EDF2F2"/>
          </a:solidFill>
          <a:ln w="12700">
            <a:solidFill>
              <a:srgbClr val="EDF2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59612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 промышленной эксплуатации: 2,5–3 месяца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53949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упирается не в скорость разработки, а в обкатку на живых тендерах и в согласования. Для сравнения: передача задачи в IT целиком — 70–85 чел-дней и 2–2,5 месяца только на разработку, без учёта погружения в предметную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BD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66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1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оценка может поехать</a:t>
            </a:r>
            <a:endParaRPr lang="en-US" sz="3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5096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5429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чём он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делаем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ЕАЭС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неизвестно, отдаёт ли портал данные машине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день разведки в самом начале. Если не отдаёт, плюс 4 дня и поддержка при изменениях портала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Дисциплина трейдеров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если модель и нотификацию не заполняют, проверять нечего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делаем поля обязательными в форме и фиксируем это в договорённостях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Ставки сборов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множитель 1,24 в текущем файле это компромисс, а не выведенная величина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запрашиваем ставки у финансовой службы, иначе расчёт нечем принимать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инвестинга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публичного источника нет, трейдеры оперируют курсом на 11:00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менеджер вводит его раз в день, бот напоминает. Это решение, а не недоработка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Инфраструктура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нужны сервер, токен бота и права администратора в девяти чатах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19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запрашиваем сразу, без этого не стартует ни один вариант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3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73384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я прошу решить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8138160" cy="86868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56816"/>
            <a:ext cx="429768" cy="429768"/>
          </a:xfrm>
          <a:prstGeom prst="ellipse">
            <a:avLst/>
          </a:prstGeom>
          <a:solidFill>
            <a:srgbClr val="5FBDB6"/>
          </a:solidFill>
          <a:ln w="12700">
            <a:solidFill>
              <a:srgbClr val="5FBDB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029968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8836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Схему работы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481328" y="22128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в управлении e-commerce, поддержка в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8138160" cy="86868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926080"/>
            <a:ext cx="429768" cy="429768"/>
          </a:xfrm>
          <a:prstGeom prst="ellipse">
            <a:avLst/>
          </a:prstGeom>
          <a:solidFill>
            <a:srgbClr val="5FBDB6"/>
          </a:solidFill>
          <a:ln w="12700">
            <a:solidFill>
              <a:srgbClr val="5FBDB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999232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285292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Согласование стека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18211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Поручить IT согласовать с нами технологический стек до старта работ.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3675888"/>
            <a:ext cx="8138160" cy="86868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3895344"/>
            <a:ext cx="429768" cy="429768"/>
          </a:xfrm>
          <a:prstGeom prst="ellipse">
            <a:avLst/>
          </a:prstGeom>
          <a:solidFill>
            <a:srgbClr val="5FBDB6"/>
          </a:solidFill>
          <a:ln w="12700">
            <a:solidFill>
              <a:srgbClr val="5FBDB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968496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382219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Ставки сборов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415137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Запросить у финансовой службы пошлину по категориям, НДС, утильсбор и гарантийный сбор.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4645152"/>
            <a:ext cx="8138160" cy="868680"/>
          </a:xfrm>
          <a:prstGeom prst="rect">
            <a:avLst/>
          </a:prstGeom>
          <a:solidFill>
            <a:srgbClr val="17514F"/>
          </a:solidFill>
          <a:ln w="12700">
            <a:solidFill>
              <a:srgbClr val="17514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4864608"/>
            <a:ext cx="429768" cy="429768"/>
          </a:xfrm>
          <a:prstGeom prst="ellipse">
            <a:avLst/>
          </a:prstGeom>
          <a:solidFill>
            <a:srgbClr val="5FBDB6"/>
          </a:solidFill>
          <a:ln w="12700">
            <a:solidFill>
              <a:srgbClr val="5FBDB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937760"/>
            <a:ext cx="429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3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81328" y="479145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Доступы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512064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на время разработки и токен Telegram-бота.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7607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BD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Пункты 3 и 4 нужны к концу первого этапа и старт не блокируют.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052560" y="1737360"/>
            <a:ext cx="2569464" cy="3840480"/>
          </a:xfrm>
          <a:prstGeom prst="rect">
            <a:avLst/>
          </a:prstGeom>
          <a:solidFill>
            <a:srgbClr val="0E5C5E"/>
          </a:solidFill>
          <a:ln w="12700">
            <a:solidFill>
              <a:srgbClr val="0E5C5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0" y="193852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будет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дальше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28803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9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Собираю справочник трейдеров и расчётное ядро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9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Прогоняю его на тендере от 25.06 и показываю расхождения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9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этого начинаем сборку сервиса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Тендерный калькулятор</dc:title>
  <dc:subject>PptxGenJS Presentation</dc:subject>
  <dc:creator>Управление e-commerce, ЗАО ПАТИО</dc:creator>
  <cp:lastModifiedBy>Управление e-commerce, ЗАО ПАТИО</cp:lastModifiedBy>
  <cp:revision>1</cp:revision>
  <dcterms:created xsi:type="dcterms:W3CDTF">2026-09-07T12:07:23Z</dcterms:created>
  <dcterms:modified xsi:type="dcterms:W3CDTF">2026-09-07T12:07:23Z</dcterms:modified>
</cp:coreProperties>
</file>